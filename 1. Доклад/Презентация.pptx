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66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1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18710F-3D78-4BC9-A001-E608A3339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C06BB1-C7D4-41C9-AE5A-8767E50CF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90084D-8AEA-4FD6-858B-02710BB2F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682B-7122-4FFE-A4BA-F71A489055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BDC3CF-BD22-4FF6-A97B-AD0FC3BC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0E5454-3A9B-4F00-824B-5DECB10AF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A1CC-427B-450D-A4AA-6FC38798B4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710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C38BA-D109-446A-8976-109AA669E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8CED7C-6740-4EF2-B179-9F1CFE60C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B3FB9A-A4AC-48FA-97A0-8E3A2E7D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682B-7122-4FFE-A4BA-F71A489055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79647A-FD94-48D0-BDD6-05E290F49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6CB93D-40DD-4261-BB55-96C2CBB12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A1CC-427B-450D-A4AA-6FC38798B4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7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AAE840-3581-4BCA-BAF0-5E9A1FDD6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C91905-D148-48DD-8504-0EC9E21A3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887AED-C035-4B0B-BBA5-7E17D7EE3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682B-7122-4FFE-A4BA-F71A489055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D3A09A-4920-4CD2-B68F-B4A037DB3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E927A6-2F79-4B86-A756-A692110F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A1CC-427B-450D-A4AA-6FC38798B4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729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E26247-8A64-4AE7-B073-3C6ABC5D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6C838D-A289-4C20-9880-D8FF439581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014827-042B-4C6D-B4C2-3D1D28F6A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47834E2-B69E-4961-BE6C-CF6DF3150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682B-7122-4FFE-A4BA-F71A489055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AD482F-1E81-4CD7-B691-EA6F80869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608AE6-EF61-427E-97A1-D98C25BE9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A1CC-427B-450D-A4AA-6FC38798B4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098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FBA487-26C1-4D2D-8809-294FD7F0A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89E79B-D1DF-414C-B0BD-BA664BBD6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C6A828-E22F-45D1-839A-F44B65C17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3A2B56B-FBB1-4845-A220-AEB4B9E9B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30C9B0C-D873-4A36-97F7-78F7F5256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BE82047-808C-4A2D-AE35-55AFD0789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682B-7122-4FFE-A4BA-F71A489055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E22AE60-108D-4BA2-A4EC-8DC617631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8CC5F54-E122-4358-AB05-7B8087AB1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A1CC-427B-450D-A4AA-6FC38798B4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60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F297E0-73E0-4BB8-A967-73F3F5C54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7AFED19-0EE0-4BE0-8470-B228832CB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682B-7122-4FFE-A4BA-F71A489055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7B30C1C-3AE8-445A-A6CA-42EBDF099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1CE1D8E-651E-4DF8-AD7D-4E3F14317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A1CC-427B-450D-A4AA-6FC38798B4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294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C88A00A-3854-4432-9AD0-006050E35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682B-7122-4FFE-A4BA-F71A489055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3BF62C9-595F-4988-A472-4F631C03F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FE07328-919F-475E-9A75-2C3580505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A1CC-427B-450D-A4AA-6FC38798B4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971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82EF78-2DBD-4011-A537-18941D7F5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43DED0-F318-42E0-A7E0-6A0D26178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5DD73B-1405-405F-A7DB-0993EF427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80BD33-6F60-460E-AF6D-913883834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682B-7122-4FFE-A4BA-F71A489055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4944F7-BC78-4C3F-A4A3-70980A5CB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5B9D62-8428-4D0E-94FE-B80A1C77B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A1CC-427B-450D-A4AA-6FC38798B4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464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BEE2AA-DA22-4D10-A5E0-1AF4DD9FC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EC9EA7F-D184-4303-8D2E-171B47DD2F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220C9B-5438-4C67-AE92-AE15FDCAE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CE4858-F84A-4DE2-AE8B-20AE0062D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682B-7122-4FFE-A4BA-F71A489055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1AC65A-E5CE-4982-8A26-8DA2BF1D5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4FBE4E-D4AB-4FA7-A389-18C85F112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A1CC-427B-450D-A4AA-6FC38798B4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990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186E2D-5080-4E07-BD88-1C6569238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A3978FA-82B9-49BC-8F47-43165AC62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A2336B-2170-448C-B0C6-563C6EA62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682B-7122-4FFE-A4BA-F71A489055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EDBBE5-82E1-4F6D-B816-CB22325A7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96B8C0-7013-4339-87D5-EC06BCB5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A1CC-427B-450D-A4AA-6FC38798B4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9103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BF9FA20-DAFE-462B-BB0F-9B9A90EEA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872B79F-85F4-4F4B-B7A1-B596E2317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2D2C40-7216-4257-A621-EB0B673CE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682B-7122-4FFE-A4BA-F71A489055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5F6EF4-4712-4B72-9909-2C59ECFA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86CD2B-9C86-4347-9D7D-BED4D6CE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4A1CC-427B-450D-A4AA-6FC38798B4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75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706224-1E02-487F-AB22-B5E45FF0B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4315B5-E754-4A38-B467-DDD994798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80E60E-E200-4EDD-BCB6-05AC54638E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A682B-7122-4FFE-A4BA-F71A489055E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36D627-7D13-474C-A6BE-6F1C1B249C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63F1DA-86DF-4F82-A09A-3F9DD5797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4A1CC-427B-450D-A4AA-6FC38798B4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636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862695-488A-4698-B69E-66600D2CB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668" y="1318444"/>
            <a:ext cx="10782300" cy="1869924"/>
          </a:xfrm>
        </p:spPr>
        <p:txBody>
          <a:bodyPr>
            <a:normAutofit/>
          </a:bodyPr>
          <a:lstStyle/>
          <a:p>
            <a:r>
              <a:rPr lang="ru-RU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Тема: </a:t>
            </a:r>
            <a:b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Применение метода </a:t>
            </a:r>
            <a:r>
              <a:rPr lang="ru-RU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биоиндикации</a:t>
            </a:r>
            <a:b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сравнения водоемов Челябинской области</a:t>
            </a:r>
            <a:b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3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53E138-041A-4A96-9320-64A0209D0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2947" y="3669632"/>
            <a:ext cx="2735179" cy="1655762"/>
          </a:xfrm>
        </p:spPr>
        <p:txBody>
          <a:bodyPr>
            <a:noAutofit/>
          </a:bodyPr>
          <a:lstStyle/>
          <a:p>
            <a:r>
              <a:rPr lang="ru-RU" sz="2200" dirty="0"/>
              <a:t>Работа ученика 9-Е класса</a:t>
            </a:r>
          </a:p>
          <a:p>
            <a:r>
              <a:rPr lang="ru-RU" sz="2200" dirty="0"/>
              <a:t>Лазарева Григория Андреевича</a:t>
            </a:r>
          </a:p>
          <a:p>
            <a:r>
              <a:rPr lang="ru-RU" sz="2200" dirty="0"/>
              <a:t>Руководитель проекта Саблина</a:t>
            </a:r>
          </a:p>
          <a:p>
            <a:r>
              <a:rPr lang="ru-RU" sz="2200" dirty="0"/>
              <a:t>Анна Владимировна</a:t>
            </a:r>
          </a:p>
          <a:p>
            <a:endParaRPr lang="ru-RU" sz="2200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4C467F60-949C-400E-B7C4-2965AF42F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668" y="126673"/>
            <a:ext cx="888915" cy="951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548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F1B7C9-20F8-46A7-A4CC-E2FBE8E5E03E}"/>
              </a:ext>
            </a:extLst>
          </p:cNvPr>
          <p:cNvSpPr txBox="1"/>
          <p:nvPr/>
        </p:nvSpPr>
        <p:spPr>
          <a:xfrm>
            <a:off x="600434" y="1333009"/>
            <a:ext cx="10860504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 проекта: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 основе методов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биоиндикации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выявить различия экологического состояния разных типов водоемов</a:t>
            </a:r>
          </a:p>
          <a:p>
            <a:pPr indent="457200" algn="just">
              <a:lnSpc>
                <a:spcPct val="150000"/>
              </a:lnSpc>
            </a:pP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Гипотеза исследования: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разные типы водоемов (водохранилище и озеро) будут содержать разные виды-биоиндикаторы</a:t>
            </a:r>
          </a:p>
          <a:p>
            <a:pPr indent="457200" algn="just">
              <a:lnSpc>
                <a:spcPct val="150000"/>
              </a:lnSpc>
            </a:pP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Методика исследования: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биоиндикационные методы исследования </a:t>
            </a:r>
          </a:p>
          <a:p>
            <a:pPr indent="457200" algn="just">
              <a:lnSpc>
                <a:spcPct val="150000"/>
              </a:lnSpc>
            </a:pP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Предмет исследования: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Водоемы Челябинской области (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Шершневское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водохранилище и озеро Чебаркуль)</a:t>
            </a:r>
          </a:p>
          <a:p>
            <a:pPr indent="457200" algn="just">
              <a:lnSpc>
                <a:spcPct val="150000"/>
              </a:lnSpc>
            </a:pP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 исследования: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виды биоиндикаторы исследуемых водоемов</a:t>
            </a:r>
          </a:p>
          <a:p>
            <a:pPr algn="just">
              <a:lnSpc>
                <a:spcPct val="150000"/>
              </a:lnSpc>
            </a:pP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695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2F28CF-1219-4E51-A297-100FA2AFCC43}"/>
              </a:ext>
            </a:extLst>
          </p:cNvPr>
          <p:cNvSpPr txBox="1"/>
          <p:nvPr/>
        </p:nvSpPr>
        <p:spPr>
          <a:xfrm>
            <a:off x="3723998" y="156313"/>
            <a:ext cx="447552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Глава 1: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Теоретическая часть</a:t>
            </a:r>
            <a:endParaRPr lang="ru-RU" sz="2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FD0C2-E1A3-4865-B4A8-5B00A09F856D}"/>
              </a:ext>
            </a:extLst>
          </p:cNvPr>
          <p:cNvSpPr txBox="1"/>
          <p:nvPr/>
        </p:nvSpPr>
        <p:spPr>
          <a:xfrm>
            <a:off x="3581623" y="649663"/>
            <a:ext cx="4760269" cy="559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метод </a:t>
            </a:r>
            <a:r>
              <a:rPr lang="ru-RU" sz="23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биоиндикации</a:t>
            </a:r>
            <a:r>
              <a:rPr lang="ru-RU" sz="2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водоема</a:t>
            </a:r>
            <a:endParaRPr lang="ru-RU" sz="2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1AA9DD-D79C-4A3F-9BC6-DFBAC4CAFBC9}"/>
              </a:ext>
            </a:extLst>
          </p:cNvPr>
          <p:cNvSpPr txBox="1"/>
          <p:nvPr/>
        </p:nvSpPr>
        <p:spPr>
          <a:xfrm>
            <a:off x="421133" y="1328662"/>
            <a:ext cx="113218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Метод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биоиндикации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это комплексный подход в экологическом мониторинге, основанный на использовании биологических объектов (от молекулярных структур до целых экосистем) в качестве интегральных индикаторов качества окружающей среды и ее антропогенных изменений.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4DD26-753B-465A-A812-B4C701559A3A}"/>
              </a:ext>
            </a:extLst>
          </p:cNvPr>
          <p:cNvSpPr txBox="1"/>
          <p:nvPr/>
        </p:nvSpPr>
        <p:spPr>
          <a:xfrm>
            <a:off x="1708036" y="2782669"/>
            <a:ext cx="28146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Принцип экологической валентности </a:t>
            </a:r>
            <a:endParaRPr lang="ru-RU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9B36A5-F548-497A-9F49-1316E3C2912A}"/>
              </a:ext>
            </a:extLst>
          </p:cNvPr>
          <p:cNvSpPr txBox="1"/>
          <p:nvPr/>
        </p:nvSpPr>
        <p:spPr>
          <a:xfrm>
            <a:off x="7669329" y="2833274"/>
            <a:ext cx="29057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Принцип необратимости экосистемной сукцессии</a:t>
            </a:r>
            <a:endParaRPr lang="ru-RU" sz="2000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F594F08C-67EC-4DF8-8EE1-8569426DFA6D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3115355" y="2344325"/>
            <a:ext cx="2966690" cy="438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C202F8F9-919F-4502-9B38-4E4CDB11C29E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6082045" y="2344325"/>
            <a:ext cx="3040177" cy="488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BFEC1478-0C4B-4356-8F58-8E509B5E8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002" y="3534742"/>
            <a:ext cx="4841396" cy="316708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556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83077B-C852-4C60-A622-4D3F93769DE7}"/>
              </a:ext>
            </a:extLst>
          </p:cNvPr>
          <p:cNvSpPr txBox="1"/>
          <p:nvPr/>
        </p:nvSpPr>
        <p:spPr>
          <a:xfrm>
            <a:off x="2538663" y="84040"/>
            <a:ext cx="711467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определение загрязнения методом </a:t>
            </a:r>
            <a:r>
              <a:rPr lang="ru-RU" sz="23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биондикации</a:t>
            </a:r>
            <a:endParaRPr lang="ru-RU" sz="23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CA18F6-E4AC-475C-B36A-4C3C3C60ECCF}"/>
              </a:ext>
            </a:extLst>
          </p:cNvPr>
          <p:cNvSpPr txBox="1"/>
          <p:nvPr/>
        </p:nvSpPr>
        <p:spPr>
          <a:xfrm>
            <a:off x="401053" y="942292"/>
            <a:ext cx="15480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Симптомы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9840F-CD3E-4E58-85FB-40E8E84B0E36}"/>
              </a:ext>
            </a:extLst>
          </p:cNvPr>
          <p:cNvSpPr txBox="1"/>
          <p:nvPr/>
        </p:nvSpPr>
        <p:spPr>
          <a:xfrm>
            <a:off x="230412" y="1616294"/>
            <a:ext cx="600710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Исчезновение высокоорганизованных консументов.</a:t>
            </a:r>
          </a:p>
          <a:p>
            <a:pPr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Первыми исчезают хищники (личинки стрекоз, жуки-плавунцы).</a:t>
            </a:r>
          </a:p>
          <a:p>
            <a:pPr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Сокращается или исчезает группа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фильтраторов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(двустворчатые моллюски, губки).</a:t>
            </a:r>
          </a:p>
          <a:p>
            <a:pPr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Сообщество смещается в сторону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детритофагов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организмов, питающихся бактериальными обрастаниями.</a:t>
            </a:r>
          </a:p>
          <a:p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28EA52E-CA9F-4441-8814-7105B4E165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3" t="2689" r="4624" b="23859"/>
          <a:stretch/>
        </p:blipFill>
        <p:spPr bwMode="auto">
          <a:xfrm>
            <a:off x="6465652" y="1816768"/>
            <a:ext cx="5439788" cy="330066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938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5EDD30-1042-4440-9010-B49C0DD477A0}"/>
              </a:ext>
            </a:extLst>
          </p:cNvPr>
          <p:cNvSpPr txBox="1"/>
          <p:nvPr/>
        </p:nvSpPr>
        <p:spPr>
          <a:xfrm>
            <a:off x="3681663" y="148208"/>
            <a:ext cx="482867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3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 такое Искусственный водоем</a:t>
            </a:r>
            <a:endParaRPr lang="ru-RU" sz="23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B3FC72-43A8-43EF-9887-19E4E9380CC7}"/>
              </a:ext>
            </a:extLst>
          </p:cNvPr>
          <p:cNvSpPr txBox="1"/>
          <p:nvPr/>
        </p:nvSpPr>
        <p:spPr>
          <a:xfrm>
            <a:off x="349632" y="2535215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Искусственный водоём (водохранилище) - это крупный искусственный водоём, созданный человеком путём перекрытия русла реки плотиной для накопления и регулирования стока воды в целях хозяйственного использования. </a:t>
            </a:r>
            <a:endParaRPr lang="ru-RU" sz="2000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563517F-FE0F-4044-A26F-07169052D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665" y="1444153"/>
            <a:ext cx="5292925" cy="396969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1897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1EB6B0-1ED3-4E31-91CB-D6BE71F0B8E6}"/>
              </a:ext>
            </a:extLst>
          </p:cNvPr>
          <p:cNvSpPr txBox="1"/>
          <p:nvPr/>
        </p:nvSpPr>
        <p:spPr>
          <a:xfrm>
            <a:off x="3048000" y="188313"/>
            <a:ext cx="60960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300"/>
              </a:spcAft>
            </a:pPr>
            <a:r>
              <a:rPr lang="ru-RU" sz="2300" b="1" kern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Что такое естественный Водоем</a:t>
            </a:r>
            <a:endParaRPr lang="ru-RU" sz="2300" b="1" kern="1600" dirty="0"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FCC70F-3B8A-4708-92A0-FE1BB98E7DCB}"/>
              </a:ext>
            </a:extLst>
          </p:cNvPr>
          <p:cNvSpPr txBox="1"/>
          <p:nvPr/>
        </p:nvSpPr>
        <p:spPr>
          <a:xfrm>
            <a:off x="345622" y="2151727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Водоём - это природное или искусственное углубление (понижение) в земной поверхности, заполненное водой, которое характеризуется замедленным водообменом по сравнению с водотоками.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Естественный водоём — это водный объект, сформировавшийся естественным путём без участия человека.</a:t>
            </a:r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C8C6BF2F-8EFC-474A-8D06-A512D3BBD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154" y="1243263"/>
            <a:ext cx="5833691" cy="437147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107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743FE0-619B-4155-8CD2-AF96E9193978}"/>
              </a:ext>
            </a:extLst>
          </p:cNvPr>
          <p:cNvSpPr txBox="1"/>
          <p:nvPr/>
        </p:nvSpPr>
        <p:spPr>
          <a:xfrm>
            <a:off x="846220" y="31947"/>
            <a:ext cx="512144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Классификация (по происхождению)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Тектонические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Ледниковые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Карстовые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Речные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Термокарстовые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Вулканические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Приморские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FAD24-2B83-4104-BDF6-95603A79E22C}"/>
              </a:ext>
            </a:extLst>
          </p:cNvPr>
          <p:cNvSpPr txBox="1"/>
          <p:nvPr/>
        </p:nvSpPr>
        <p:spPr>
          <a:xfrm>
            <a:off x="6300538" y="154411"/>
            <a:ext cx="504524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/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роль и значение водоемов для людей: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Источник пресной воды.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Биологическое: "Горячие точки" биоразнообразия, места обитания, нереста, нагула и миграции множества видов.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Гидрологическое: Аккумуляторы пресной воды, регуляторы речного стока, источники питания грунтовых вод.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Хозяйственное: Источники воды, рыболовства, рекреации.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Научное: Природные архивы, сохраняющие в донных отложениях (сапропель, ил) информацию об изменении климата и экосистем за тысячи лет.</a:t>
            </a:r>
          </a:p>
          <a:p>
            <a:pPr indent="190500"/>
            <a:r>
              <a:rPr lang="ru-RU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148" name="Picture 4" descr="Picture background">
            <a:extLst>
              <a:ext uri="{FF2B5EF4-FFF2-40B4-BE49-F238E27FC236}">
                <a16:creationId xmlns:a16="http://schemas.microsoft.com/office/drawing/2014/main" id="{E4B7BD68-E731-4E41-A940-EBF17EEA4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2638175"/>
            <a:ext cx="5962650" cy="397192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630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9CCAEF-A543-415A-99FA-3F29A4218187}"/>
              </a:ext>
            </a:extLst>
          </p:cNvPr>
          <p:cNvSpPr txBox="1"/>
          <p:nvPr/>
        </p:nvSpPr>
        <p:spPr>
          <a:xfrm>
            <a:off x="4283242" y="0"/>
            <a:ext cx="362551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90500"/>
            <a:r>
              <a:rPr lang="ru-RU" sz="2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Исследуемые водоемы</a:t>
            </a:r>
            <a:endParaRPr lang="ru-RU" sz="2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1630E351-3B61-47E6-A0FA-385B5D016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68" y="861690"/>
            <a:ext cx="3994483" cy="282742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Picture background">
            <a:extLst>
              <a:ext uri="{FF2B5EF4-FFF2-40B4-BE49-F238E27FC236}">
                <a16:creationId xmlns:a16="http://schemas.microsoft.com/office/drawing/2014/main" id="{FA286540-DC5F-4D1C-BC32-54C05ED52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968" y="861691"/>
            <a:ext cx="4712369" cy="282742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03E803-3422-45F3-9772-E910B9402DB7}"/>
              </a:ext>
            </a:extLst>
          </p:cNvPr>
          <p:cNvSpPr txBox="1"/>
          <p:nvPr/>
        </p:nvSpPr>
        <p:spPr>
          <a:xfrm>
            <a:off x="521368" y="371346"/>
            <a:ext cx="2269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Озеро Чебаркуль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CFC8A3-B3B6-4AB4-AAF6-0DBB0C8D084E}"/>
              </a:ext>
            </a:extLst>
          </p:cNvPr>
          <p:cNvSpPr txBox="1"/>
          <p:nvPr/>
        </p:nvSpPr>
        <p:spPr>
          <a:xfrm>
            <a:off x="6845968" y="371346"/>
            <a:ext cx="3694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90500"/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Шершневское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водохранилище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91EBD0-B9B5-4AB9-A459-57AD6CED4738}"/>
              </a:ext>
            </a:extLst>
          </p:cNvPr>
          <p:cNvSpPr txBox="1"/>
          <p:nvPr/>
        </p:nvSpPr>
        <p:spPr>
          <a:xfrm>
            <a:off x="64169" y="3810124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Тип: Естественное озеро тектонического происхождения, расположенное на восточном склоне Южного Урала.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Размеры: Площадь — около 19,8 км², длина — около 3,5 км, ширина — до 3,5 км.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Глубина: Средняя — 2,5 м, максимальная — до 12 м.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79EBAF-305A-46D8-9024-4596DAD0EBFA}"/>
              </a:ext>
            </a:extLst>
          </p:cNvPr>
          <p:cNvSpPr txBox="1"/>
          <p:nvPr/>
        </p:nvSpPr>
        <p:spPr>
          <a:xfrm>
            <a:off x="6160169" y="3810124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Тип: Крупное водохранилище руслового типа, созданное путём перекрытия плотиной реки Миасс.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Размеры: Площадь — 39 км², длина — 18 км, максимальная ширина — 4 км.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Глубина: Средняя — 4,5 м, максимальная у плотины — 14 м.</a:t>
            </a:r>
          </a:p>
        </p:txBody>
      </p:sp>
    </p:spTree>
    <p:extLst>
      <p:ext uri="{BB962C8B-B14F-4D97-AF65-F5344CB8AC3E}">
        <p14:creationId xmlns:p14="http://schemas.microsoft.com/office/powerpoint/2010/main" val="727238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990F1A-326A-4586-9FB1-795FEA1826C3}"/>
              </a:ext>
            </a:extLst>
          </p:cNvPr>
          <p:cNvSpPr txBox="1"/>
          <p:nvPr/>
        </p:nvSpPr>
        <p:spPr>
          <a:xfrm>
            <a:off x="3136232" y="0"/>
            <a:ext cx="6096000" cy="64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Практическая часть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B40D0-ECBD-4AD8-85EE-CD4F79AA4B8F}"/>
              </a:ext>
            </a:extLst>
          </p:cNvPr>
          <p:cNvSpPr txBox="1"/>
          <p:nvPr/>
        </p:nvSpPr>
        <p:spPr>
          <a:xfrm>
            <a:off x="2114908" y="1165380"/>
            <a:ext cx="8138647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сбор информации летом 2025г;</a:t>
            </a:r>
          </a:p>
          <a:p>
            <a:pPr indent="457200" algn="just"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изучение необходимых источников литературы;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 Изучение растительного компонента на территории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около озера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Чебаркуль и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Шершневского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водохранилища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  сравнение результатов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биоиндикации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6. сопоставление результатов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7. составление сравнительной таблицы, по полученным данным водоема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Создание и выпуск статьи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02826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A5FE14-7709-40E1-9F98-7D2BF49F6D6C}"/>
              </a:ext>
            </a:extLst>
          </p:cNvPr>
          <p:cNvSpPr txBox="1"/>
          <p:nvPr/>
        </p:nvSpPr>
        <p:spPr>
          <a:xfrm>
            <a:off x="277586" y="0"/>
            <a:ext cx="11609614" cy="559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ctr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ru-RU" sz="2300" b="1" dirty="0">
                <a:effectLst/>
                <a:latin typeface="Times New Roman" panose="02020603050405020304" pitchFamily="18" charset="0"/>
                <a:ea typeface="TimesNewRoman"/>
              </a:rPr>
              <a:t>Изучение </a:t>
            </a:r>
            <a:r>
              <a:rPr lang="ru-RU" sz="2300" b="1" dirty="0" err="1">
                <a:effectLst/>
                <a:latin typeface="Times New Roman" panose="02020603050405020304" pitchFamily="18" charset="0"/>
                <a:ea typeface="TimesNewRoman"/>
              </a:rPr>
              <a:t>биоинидикаторов</a:t>
            </a:r>
            <a:r>
              <a:rPr lang="ru-RU" sz="2300" b="1" dirty="0">
                <a:effectLst/>
                <a:latin typeface="Times New Roman" panose="02020603050405020304" pitchFamily="18" charset="0"/>
                <a:ea typeface="TimesNewRoman"/>
              </a:rPr>
              <a:t> и составление таблицы по озеру Чебаркуль</a:t>
            </a:r>
            <a:endParaRPr lang="ru-RU" sz="2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709807-EDE4-4E3B-8A7C-0152A7DE4B4C}"/>
              </a:ext>
            </a:extLst>
          </p:cNvPr>
          <p:cNvSpPr txBox="1"/>
          <p:nvPr/>
        </p:nvSpPr>
        <p:spPr>
          <a:xfrm>
            <a:off x="440873" y="1055143"/>
            <a:ext cx="27105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Биоиндикаторы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элодея канадская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ряска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Карась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ротан</a:t>
            </a:r>
            <a:endParaRPr lang="ru-RU" sz="2000" dirty="0">
              <a:solidFill>
                <a:srgbClr val="1F2328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Щука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5A4456-8858-4CD7-B910-CBFA663C5F36}"/>
              </a:ext>
            </a:extLst>
          </p:cNvPr>
          <p:cNvSpPr txBox="1"/>
          <p:nvPr/>
        </p:nvSpPr>
        <p:spPr>
          <a:xfrm>
            <a:off x="440873" y="2994135"/>
            <a:ext cx="531494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биоиндикации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000" dirty="0">
                <a:solidFill>
                  <a:srgbClr val="1F2328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Эти растения могут рассматриваться как виды, связанные с повышенным содержанием органических веществ и развитием эвтрофикации. Карась и ротан относятся к экологически пластичным видам, хорошо переносящим неблагоприятные условия. Чебаркуль по изученным биоиндикационным признакам можно оценить как удовлетворительное.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Picture background">
            <a:extLst>
              <a:ext uri="{FF2B5EF4-FFF2-40B4-BE49-F238E27FC236}">
                <a16:creationId xmlns:a16="http://schemas.microsoft.com/office/drawing/2014/main" id="{E9456580-4F1E-4EF1-8BD2-B6E4BBF47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420" y="1055143"/>
            <a:ext cx="5038951" cy="474771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6071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22D92F-2C64-4975-A301-58271055294D}"/>
              </a:ext>
            </a:extLst>
          </p:cNvPr>
          <p:cNvSpPr txBox="1"/>
          <p:nvPr/>
        </p:nvSpPr>
        <p:spPr>
          <a:xfrm>
            <a:off x="368413" y="1265"/>
            <a:ext cx="11569474" cy="1090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ctr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ru-RU" sz="2300" b="1" dirty="0">
                <a:effectLst/>
                <a:latin typeface="Times New Roman" panose="02020603050405020304" pitchFamily="18" charset="0"/>
                <a:ea typeface="TimesNewRoman"/>
              </a:rPr>
              <a:t> Изучение </a:t>
            </a:r>
            <a:r>
              <a:rPr lang="ru-RU" sz="2300" b="1" dirty="0" err="1">
                <a:effectLst/>
                <a:latin typeface="Times New Roman" panose="02020603050405020304" pitchFamily="18" charset="0"/>
                <a:ea typeface="TimesNewRoman"/>
              </a:rPr>
              <a:t>биоинидикаторов</a:t>
            </a:r>
            <a:r>
              <a:rPr lang="ru-RU" sz="2300" b="1" dirty="0">
                <a:effectLst/>
                <a:latin typeface="Times New Roman" panose="02020603050405020304" pitchFamily="18" charset="0"/>
                <a:ea typeface="TimesNewRoman"/>
              </a:rPr>
              <a:t> и составление таблицы по </a:t>
            </a:r>
            <a:r>
              <a:rPr lang="ru-RU" sz="2300" b="1" dirty="0" err="1">
                <a:effectLst/>
                <a:latin typeface="Times New Roman" panose="02020603050405020304" pitchFamily="18" charset="0"/>
                <a:ea typeface="TimesNewRoman"/>
              </a:rPr>
              <a:t>шершневскому</a:t>
            </a:r>
            <a:r>
              <a:rPr lang="ru-RU" sz="2300" b="1" dirty="0">
                <a:effectLst/>
                <a:latin typeface="Times New Roman" panose="02020603050405020304" pitchFamily="18" charset="0"/>
                <a:ea typeface="TimesNewRoman"/>
              </a:rPr>
              <a:t> водохранилищу.</a:t>
            </a:r>
            <a:endParaRPr lang="ru-RU" sz="2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5FCA5D-01BD-4FAD-8ABF-70BFFB3AC7BD}"/>
              </a:ext>
            </a:extLst>
          </p:cNvPr>
          <p:cNvSpPr txBox="1"/>
          <p:nvPr/>
        </p:nvSpPr>
        <p:spPr>
          <a:xfrm>
            <a:off x="522511" y="1506500"/>
            <a:ext cx="22594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Биоиндикаторы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04D54D-AFE0-4830-9E95-069CD3321077}"/>
              </a:ext>
            </a:extLst>
          </p:cNvPr>
          <p:cNvSpPr txBox="1"/>
          <p:nvPr/>
        </p:nvSpPr>
        <p:spPr>
          <a:xfrm>
            <a:off x="6517143" y="1517049"/>
            <a:ext cx="30350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биоиндикации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83716-B552-4A68-BBE1-7D5573777972}"/>
              </a:ext>
            </a:extLst>
          </p:cNvPr>
          <p:cNvSpPr txBox="1"/>
          <p:nvPr/>
        </p:nvSpPr>
        <p:spPr>
          <a:xfrm>
            <a:off x="3587699" y="2000105"/>
            <a:ext cx="7991475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TimesNewRoman"/>
              </a:rPr>
              <a:t>сохранение прибрежной растительности и регулярный контроль биоиндикаторов имеют особое значение для поддержания экологического состояния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NewRoman"/>
              </a:rPr>
              <a:t>Шершневского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NewRoman"/>
              </a:rPr>
              <a:t> водохранилища. присутствие в донных сообществах олигохет, личинок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NewRoman"/>
              </a:rPr>
              <a:t>хирономид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NewRoman"/>
              </a:rPr>
              <a:t>, моллюсков и круглых червей,  раки также присутствуют в малых количествах - особенно чувствительные к загрязнениям. 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2CDA20-3652-477A-BCD6-26CEE26C9A5C}"/>
              </a:ext>
            </a:extLst>
          </p:cNvPr>
          <p:cNvSpPr txBox="1"/>
          <p:nvPr/>
        </p:nvSpPr>
        <p:spPr>
          <a:xfrm>
            <a:off x="500063" y="2167658"/>
            <a:ext cx="2568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NewRoman"/>
              </a:rPr>
              <a:t>харовые водоросли</a:t>
            </a:r>
            <a:endParaRPr lang="ru-RU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07DF6D-8106-4E52-A1B3-BA8D05B49E1D}"/>
              </a:ext>
            </a:extLst>
          </p:cNvPr>
          <p:cNvSpPr txBox="1"/>
          <p:nvPr/>
        </p:nvSpPr>
        <p:spPr>
          <a:xfrm>
            <a:off x="523018" y="3999857"/>
            <a:ext cx="28656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NewRoman"/>
              </a:rPr>
              <a:t>камыш</a:t>
            </a:r>
            <a:endParaRPr lang="ru-RU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ECA76D-C73D-42E2-9E23-301B10FCB051}"/>
              </a:ext>
            </a:extLst>
          </p:cNvPr>
          <p:cNvSpPr txBox="1"/>
          <p:nvPr/>
        </p:nvSpPr>
        <p:spPr>
          <a:xfrm>
            <a:off x="522513" y="2436790"/>
            <a:ext cx="1482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NewRoman"/>
              </a:rPr>
              <a:t>тростник</a:t>
            </a:r>
            <a:endParaRPr lang="ru-RU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3E70F5-7F98-4C08-8257-DC23E3C77C30}"/>
              </a:ext>
            </a:extLst>
          </p:cNvPr>
          <p:cNvSpPr txBox="1"/>
          <p:nvPr/>
        </p:nvSpPr>
        <p:spPr>
          <a:xfrm>
            <a:off x="522514" y="2701620"/>
            <a:ext cx="16961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NewRoman"/>
              </a:rPr>
              <a:t>рогоз</a:t>
            </a:r>
            <a:endParaRPr lang="ru-RU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9512D6-AE69-4CD2-BF70-8ADA863159C6}"/>
              </a:ext>
            </a:extLst>
          </p:cNvPr>
          <p:cNvSpPr txBox="1"/>
          <p:nvPr/>
        </p:nvSpPr>
        <p:spPr>
          <a:xfrm>
            <a:off x="522513" y="2976880"/>
            <a:ext cx="1696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NewRoman"/>
              </a:rPr>
              <a:t>олигохеты</a:t>
            </a:r>
            <a:endParaRPr lang="ru-RU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76FA86-C4DC-4A93-8B39-E98A14E082B0}"/>
              </a:ext>
            </a:extLst>
          </p:cNvPr>
          <p:cNvSpPr txBox="1"/>
          <p:nvPr/>
        </p:nvSpPr>
        <p:spPr>
          <a:xfrm>
            <a:off x="522512" y="3228926"/>
            <a:ext cx="28656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NewRoman"/>
              </a:rPr>
              <a:t>личинок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NewRoman"/>
              </a:rPr>
              <a:t>хирономид</a:t>
            </a:r>
            <a:endParaRPr lang="ru-RU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C307DB-72D2-4FF5-802C-864FD353D8AF}"/>
              </a:ext>
            </a:extLst>
          </p:cNvPr>
          <p:cNvSpPr txBox="1"/>
          <p:nvPr/>
        </p:nvSpPr>
        <p:spPr>
          <a:xfrm>
            <a:off x="522511" y="3482374"/>
            <a:ext cx="24962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NewRoman"/>
              </a:rPr>
              <a:t>моллюски</a:t>
            </a:r>
            <a:endParaRPr lang="ru-RU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34C7DB-8EAA-49E0-8A44-1D7B0C7CE584}"/>
              </a:ext>
            </a:extLst>
          </p:cNvPr>
          <p:cNvSpPr txBox="1"/>
          <p:nvPr/>
        </p:nvSpPr>
        <p:spPr>
          <a:xfrm>
            <a:off x="522511" y="3732645"/>
            <a:ext cx="2569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NewRoman"/>
              </a:rPr>
              <a:t>круглых червей</a:t>
            </a:r>
            <a:endParaRPr lang="ru-RU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5A5D72-C413-45E6-AA56-334F39E06599}"/>
              </a:ext>
            </a:extLst>
          </p:cNvPr>
          <p:cNvSpPr txBox="1"/>
          <p:nvPr/>
        </p:nvSpPr>
        <p:spPr>
          <a:xfrm>
            <a:off x="522511" y="4274510"/>
            <a:ext cx="2137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NewRoman"/>
              </a:rPr>
              <a:t>раки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190607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707B2A-B7FF-4301-BEBB-B94C387D86F8}"/>
              </a:ext>
            </a:extLst>
          </p:cNvPr>
          <p:cNvSpPr txBox="1"/>
          <p:nvPr/>
        </p:nvSpPr>
        <p:spPr>
          <a:xfrm>
            <a:off x="4008664" y="0"/>
            <a:ext cx="2932854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водоемов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15E6A7-69E0-45C3-B3A1-E493CE39F9ED}"/>
              </a:ext>
            </a:extLst>
          </p:cNvPr>
          <p:cNvSpPr txBox="1"/>
          <p:nvPr/>
        </p:nvSpPr>
        <p:spPr>
          <a:xfrm>
            <a:off x="881742" y="732026"/>
            <a:ext cx="376373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По каким </a:t>
            </a:r>
            <a:r>
              <a:rPr lang="ru-RU" sz="2000" dirty="0" err="1"/>
              <a:t>основым</a:t>
            </a:r>
            <a:r>
              <a:rPr lang="ru-RU" sz="2000" dirty="0"/>
              <a:t> критериям сравнивали водоем</a:t>
            </a:r>
            <a:r>
              <a:rPr lang="en-US" sz="2000" dirty="0"/>
              <a:t>: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Изученные группы растений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Растения-биоиндикаторы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водные животные</a:t>
            </a:r>
            <a:endParaRPr lang="ru-RU" sz="2000" dirty="0">
              <a:solidFill>
                <a:srgbClr val="1F2328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Наиболее полезные животные для </a:t>
            </a:r>
            <a:r>
              <a:rPr lang="ru-RU" sz="2000" dirty="0" err="1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биоиндикации</a:t>
            </a:r>
            <a:endParaRPr lang="ru-RU" sz="2000" dirty="0">
              <a:solidFill>
                <a:srgbClr val="1F2328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 показывают животные</a:t>
            </a:r>
            <a:endParaRPr lang="ru-RU" sz="2000" dirty="0">
              <a:solidFill>
                <a:srgbClr val="1F2328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Признаки эвтрофикации и загрязнения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Общая оценка состояния по </a:t>
            </a:r>
            <a:r>
              <a:rPr lang="ru-RU" sz="2000" dirty="0" err="1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биоиндикации</a:t>
            </a:r>
            <a:r>
              <a:rPr lang="ru-RU" sz="20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C54DC-2E3C-4325-80EF-F1B5A02A57DF}"/>
              </a:ext>
            </a:extLst>
          </p:cNvPr>
          <p:cNvSpPr txBox="1"/>
          <p:nvPr/>
        </p:nvSpPr>
        <p:spPr>
          <a:xfrm>
            <a:off x="5110844" y="732026"/>
            <a:ext cx="6555922" cy="5534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Результаты сравнения</a:t>
            </a:r>
            <a:r>
              <a:rPr lang="en-US" sz="2000" dirty="0"/>
              <a:t>:</a:t>
            </a:r>
            <a:endParaRPr lang="ru-RU" sz="2000" dirty="0"/>
          </a:p>
          <a:p>
            <a:pPr marL="457200" algn="just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ru-RU" sz="200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по результатам сопоставления можно сделать вывод, что озеро Чебаркуль и </a:t>
            </a:r>
            <a:r>
              <a:rPr lang="ru-RU" sz="2000" dirty="0" err="1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Шершневское</a:t>
            </a:r>
            <a:r>
              <a:rPr lang="ru-RU" sz="200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водохранилище отличаются как по происхождению, так и по экологическим условиям. Сравнение по одинаковым показателям показывает, что метод </a:t>
            </a:r>
            <a:r>
              <a:rPr lang="ru-RU" sz="2000" dirty="0" err="1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биоиндикации</a:t>
            </a:r>
            <a:r>
              <a:rPr lang="ru-RU" sz="200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позволяет выявить различия в экологическом состоянии естественного и искусственного водоемов, особенно если учитывать не только растения, но и водных животных.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algn="ctr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ru-RU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67591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8BBCC0-BC31-40E6-BDD8-414EB38A7C4D}"/>
              </a:ext>
            </a:extLst>
          </p:cNvPr>
          <p:cNvSpPr txBox="1"/>
          <p:nvPr/>
        </p:nvSpPr>
        <p:spPr>
          <a:xfrm>
            <a:off x="5671717" y="97971"/>
            <a:ext cx="1141723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Статья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497618-339A-4D13-96E8-C6AAF9E87746}"/>
              </a:ext>
            </a:extLst>
          </p:cNvPr>
          <p:cNvSpPr txBox="1"/>
          <p:nvPr/>
        </p:nvSpPr>
        <p:spPr>
          <a:xfrm>
            <a:off x="498021" y="796022"/>
            <a:ext cx="11356521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Данная статья размещена на странице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вконтакте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Ознакомиться можно, пройдя по данному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-коду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BDAF97C-48A6-4363-BA09-2D0F31195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753" y="1977118"/>
            <a:ext cx="3295650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1225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862695-488A-4698-B69E-66600D2CB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0278" y="710054"/>
            <a:ext cx="9144000" cy="1977357"/>
          </a:xfrm>
        </p:spPr>
        <p:txBody>
          <a:bodyPr>
            <a:normAutofit/>
          </a:bodyPr>
          <a:lstStyle/>
          <a:p>
            <a:r>
              <a:rPr lang="ru-RU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Тема: </a:t>
            </a:r>
            <a:b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Применение метода </a:t>
            </a:r>
            <a:r>
              <a:rPr lang="ru-RU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биоиндикации</a:t>
            </a:r>
            <a:b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сравнения водоемов Челябинской области</a:t>
            </a:r>
            <a:b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3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53E138-041A-4A96-9320-64A0209D0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2947" y="3669632"/>
            <a:ext cx="2735179" cy="1655762"/>
          </a:xfrm>
        </p:spPr>
        <p:txBody>
          <a:bodyPr>
            <a:noAutofit/>
          </a:bodyPr>
          <a:lstStyle/>
          <a:p>
            <a:r>
              <a:rPr lang="ru-RU" sz="2200" dirty="0"/>
              <a:t>Работа ученика </a:t>
            </a:r>
            <a:r>
              <a:rPr lang="en-US" sz="2200" dirty="0"/>
              <a:t>9</a:t>
            </a:r>
            <a:r>
              <a:rPr lang="ru-RU" sz="2200" dirty="0"/>
              <a:t>-Е класса</a:t>
            </a:r>
          </a:p>
          <a:p>
            <a:r>
              <a:rPr lang="ru-RU" sz="2200" dirty="0"/>
              <a:t>Лазарева Григория Андреевича</a:t>
            </a:r>
          </a:p>
          <a:p>
            <a:r>
              <a:rPr lang="ru-RU" sz="2200" dirty="0"/>
              <a:t>Руководитель проекта Саблина</a:t>
            </a:r>
          </a:p>
          <a:p>
            <a:r>
              <a:rPr lang="ru-RU" sz="2200" dirty="0"/>
              <a:t>Анна Владимировна</a:t>
            </a:r>
          </a:p>
          <a:p>
            <a:endParaRPr lang="ru-RU" sz="2200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7B1E64CE-378B-446F-84E1-420E808A9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1576" y="0"/>
            <a:ext cx="1270424" cy="1359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02196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785</TotalTime>
  <Words>772</Words>
  <Application>Microsoft Office PowerPoint</Application>
  <PresentationFormat>Широкоэкранный</PresentationFormat>
  <Paragraphs>104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Segoe UI</vt:lpstr>
      <vt:lpstr>Symbol</vt:lpstr>
      <vt:lpstr>Times New Roman</vt:lpstr>
      <vt:lpstr>Тема Office</vt:lpstr>
      <vt:lpstr>Тема:  Применение метода биоиндикации Для сравнения водоемов Челябинской области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Тема:  Применение метода биоиндикации Для сравнения водоемов Челябинской области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 Применение метода биоиндикации Для сравнения водоемов Челябинской области</dc:title>
  <dc:creator>Лазарев Григорий</dc:creator>
  <cp:lastModifiedBy>Лазарев Григорий</cp:lastModifiedBy>
  <cp:revision>38</cp:revision>
  <dcterms:created xsi:type="dcterms:W3CDTF">2026-02-15T18:31:33Z</dcterms:created>
  <dcterms:modified xsi:type="dcterms:W3CDTF">2026-04-17T17:20:40Z</dcterms:modified>
</cp:coreProperties>
</file>